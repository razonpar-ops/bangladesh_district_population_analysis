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6ff10d4-33aa-dbcc-670c-bc9b9e4b82e7}">
          <p14:sldIdLst>
            <p14:sldId id="256"/>
            <p14:sldId id="257"/>
          </p14:sldIdLst>
        </p14:section>
        <p14:section name="Findings" id="{d7796af6-8725-2077-a5ad-a80b2d90cfd7}">
          <p14:sldIdLst>
            <p14:sldId id="258"/>
            <p14:sldId id="259"/>
            <p14:sldId id="260"/>
            <p14:sldId id="261"/>
          </p14:sldIdLst>
        </p14:section>
        <p14:section name="Conclusion" id="{18fb9653-b17a-052b-a6f5-c1c5ef74278b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+mn-lt"/>
              </a:rPr>
              <a:t>Population (millions)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(millions)</c:v>
                </c:pt>
              </c:strCache>
            </c:strRef>
          </c:tx>
          <c:spPr>
            <a:solidFill>
              <a:srgbClr val="9CC9B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CC9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CC9B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9CC9B8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6A4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1991</c:v>
                  </c:pt>
                  <c:pt idx="1">
                    <c:v>2001</c:v>
                  </c:pt>
                  <c:pt idx="2">
                    <c:v>2011</c:v>
                  </c:pt>
                  <c:pt idx="3">
                    <c:v>2022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111.5</c:v>
                </c:pt>
                <c:pt idx="1">
                  <c:v>130.5</c:v>
                </c:pt>
                <c:pt idx="2">
                  <c:v>149.8</c:v>
                </c:pt>
                <c:pt idx="3">
                  <c:v>169.8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+mn-lt"/>
              </a:rPr>
              <a:t>Population 2022 (millions)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Population 2022 (millions)</c:v>
                </c:pt>
              </c:strCache>
            </c:strRef>
          </c:tx>
          <c:spPr>
            <a:solidFill>
              <a:srgbClr val="C8102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810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6A4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06A4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06A4E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06A4E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06A4E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06A4E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06A4E"/>
              </a:solidFill>
              <a:effectLst/>
            </c:spPr>
          </c:dPt>
          <c:dPt>
            <c:idx val="8"/>
            <c:invertIfNegative val="0"/>
            <c:bubble3D val="0"/>
            <c:spPr>
              <a:solidFill>
                <a:srgbClr val="006A4E"/>
              </a:solidFill>
              <a:effectLst/>
            </c:spPr>
          </c:dPt>
          <c:dPt>
            <c:idx val="9"/>
            <c:invertIfNegative val="0"/>
            <c:bubble3D val="0"/>
            <c:spPr>
              <a:solidFill>
                <a:srgbClr val="006A4E"/>
              </a:solidFill>
              <a:effectLst/>
            </c:spPr>
          </c:dPt>
          <c:cat>
            <c:multiLvlStrRef>
              <c:f>Sheet1!$A$2:$A$11</c:f>
              <c:multiLvlStrCache>
                <c:ptCount val="10"/>
                <c:lvl>
                  <c:pt idx="0">
                    <c:v>Dhaka</c:v>
                  </c:pt>
                  <c:pt idx="1">
                    <c:v>Chattogram</c:v>
                  </c:pt>
                  <c:pt idx="2">
                    <c:v>Cumilla</c:v>
                  </c:pt>
                  <c:pt idx="3">
                    <c:v>Mymensingh</c:v>
                  </c:pt>
                  <c:pt idx="4">
                    <c:v>Gazipur</c:v>
                  </c:pt>
                  <c:pt idx="5">
                    <c:v>Tangail</c:v>
                  </c:pt>
                  <c:pt idx="6">
                    <c:v>Narayanganj</c:v>
                  </c:pt>
                  <c:pt idx="7">
                    <c:v>Sylhet</c:v>
                  </c:pt>
                  <c:pt idx="8">
                    <c:v>Bogra</c:v>
                  </c:pt>
                  <c:pt idx="9">
                    <c:v>Noakhali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15.2</c:v>
                </c:pt>
                <c:pt idx="1">
                  <c:v>9.4</c:v>
                </c:pt>
                <c:pt idx="2">
                  <c:v>6.4</c:v>
                </c:pt>
                <c:pt idx="3">
                  <c:v>6.1</c:v>
                </c:pt>
                <c:pt idx="4">
                  <c:v>5.4</c:v>
                </c:pt>
                <c:pt idx="5">
                  <c:v>4.2</c:v>
                </c:pt>
                <c:pt idx="6">
                  <c:v>4</c:v>
                </c:pt>
                <c:pt idx="7">
                  <c:v>4</c:v>
                </c:pt>
                <c:pt idx="8">
                  <c:v>3.8</c:v>
                </c:pt>
                <c:pt idx="9">
                  <c:v>3.7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+mn-lt"/>
              </a:rPr>
              <a:t>Share of national population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1991</c:v>
                </c:pt>
              </c:strCache>
            </c:strRef>
          </c:tx>
          <c:spPr>
            <a:solidFill>
              <a:srgbClr val="B8C2C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Dhaka</c:v>
                  </c:pt>
                  <c:pt idx="1">
                    <c:v>Chattogram</c:v>
                  </c:pt>
                  <c:pt idx="2">
                    <c:v>Rajshahi</c:v>
                  </c:pt>
                  <c:pt idx="3">
                    <c:v>Rangpur</c:v>
                  </c:pt>
                  <c:pt idx="4">
                    <c:v>Khulna</c:v>
                  </c:pt>
                  <c:pt idx="5">
                    <c:v>Mymensingh</c:v>
                  </c:pt>
                  <c:pt idx="6">
                    <c:v>Sylhet</c:v>
                  </c:pt>
                  <c:pt idx="7">
                    <c:v>Barisal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22.4</c:v>
                </c:pt>
                <c:pt idx="1">
                  <c:v>19.6</c:v>
                </c:pt>
                <c:pt idx="2">
                  <c:v>13.4</c:v>
                </c:pt>
                <c:pt idx="3">
                  <c:v>11.3</c:v>
                </c:pt>
                <c:pt idx="4">
                  <c:v>11.9</c:v>
                </c:pt>
                <c:pt idx="5">
                  <c:v>8.1</c:v>
                </c:pt>
                <c:pt idx="6">
                  <c:v>6.4</c:v>
                </c:pt>
                <c:pt idx="7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2022</c:v>
                </c:pt>
              </c:strCache>
            </c:strRef>
          </c:tx>
          <c:spPr>
            <a:solidFill>
              <a:srgbClr val="006A4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Dhaka</c:v>
                  </c:pt>
                  <c:pt idx="1">
                    <c:v>Chattogram</c:v>
                  </c:pt>
                  <c:pt idx="2">
                    <c:v>Rajshahi</c:v>
                  </c:pt>
                  <c:pt idx="3">
                    <c:v>Rangpur</c:v>
                  </c:pt>
                  <c:pt idx="4">
                    <c:v>Khulna</c:v>
                  </c:pt>
                  <c:pt idx="5">
                    <c:v>Mymensingh</c:v>
                  </c:pt>
                  <c:pt idx="6">
                    <c:v>Sylhet</c:v>
                  </c:pt>
                  <c:pt idx="7">
                    <c:v>Barisal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26.9</c:v>
                </c:pt>
                <c:pt idx="1">
                  <c:v>20.1</c:v>
                </c:pt>
                <c:pt idx="2">
                  <c:v>12.2</c:v>
                </c:pt>
                <c:pt idx="3">
                  <c:v>10.6</c:v>
                </c:pt>
                <c:pt idx="4">
                  <c:v>10.5</c:v>
                </c:pt>
                <c:pt idx="5">
                  <c:v>7.4</c:v>
                </c:pt>
                <c:pt idx="6">
                  <c:v>6.7</c:v>
                </c:pt>
                <c:pt idx="7">
                  <c:v>5.5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2937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F2937"/>
                </a:solidFill>
                <a:latin typeface="+mn-lt"/>
              </a:rPr>
              <a:t>Population growth 1991 to 2022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Growth 1991-2022 (%)</c:v>
                </c:pt>
              </c:strCache>
            </c:strRef>
          </c:tx>
          <c:spPr>
            <a:solidFill>
              <a:srgbClr val="006A4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Gazipur</c:v>
                  </c:pt>
                  <c:pt idx="1">
                    <c:v>Dhaka</c:v>
                  </c:pt>
                  <c:pt idx="2">
                    <c:v>Narayanganj</c:v>
                  </c:pt>
                  <c:pt idx="3">
                    <c:v>Bandarban</c:v>
                  </c:pt>
                  <c:pt idx="4">
                    <c:v>Khagrachhari</c:v>
                  </c:pt>
                  <c:pt idx="5">
                    <c:v>Cox's Bazar</c:v>
                  </c:pt>
                  <c:pt idx="6">
                    <c:v>Sylhet</c:v>
                  </c:pt>
                  <c:pt idx="7">
                    <c:v>Chattogram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223</c:v>
                </c:pt>
                <c:pt idx="1">
                  <c:v>147</c:v>
                </c:pt>
                <c:pt idx="2">
                  <c:v>122</c:v>
                </c:pt>
                <c:pt idx="3">
                  <c:v>101</c:v>
                </c:pt>
                <c:pt idx="4">
                  <c:v>101</c:v>
                </c:pt>
                <c:pt idx="5">
                  <c:v>93</c:v>
                </c:pt>
                <c:pt idx="6">
                  <c:v>75</c:v>
                </c:pt>
                <c:pt idx="7">
                  <c:v>64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457200" y="1874520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Bangladesh's 64 Districts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457200" y="1874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Population change, 1991 to 2022</a:t>
            </a:r>
            <a:endParaRPr lang="en-US" sz="1600" dirty="0"/>
          </a:p>
        </p:txBody>
      </p:sp>
      <p:sp>
        <p:nvSpPr>
          <p:cNvPr id="4" name="cover stat districts"/>
          <p:cNvSpPr/>
          <p:nvPr/>
        </p:nvSpPr>
        <p:spPr>
          <a:xfrm>
            <a:off x="457200" y="3017520"/>
            <a:ext cx="201168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</p:sp>
      <p:sp>
        <p:nvSpPr>
          <p:cNvPr id="5" name="cover stat text districts"/>
          <p:cNvSpPr txBox="1"/>
          <p:nvPr/>
        </p:nvSpPr>
        <p:spPr>
          <a:xfrm>
            <a:off x="457200" y="3017520"/>
            <a:ext cx="2011680" cy="11887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40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districts</a:t>
            </a:r>
            <a:endParaRPr lang="en-US" sz="4000" dirty="0"/>
          </a:p>
        </p:txBody>
      </p:sp>
      <p:sp>
        <p:nvSpPr>
          <p:cNvPr id="6" name="cover stat divisions"/>
          <p:cNvSpPr/>
          <p:nvPr/>
        </p:nvSpPr>
        <p:spPr>
          <a:xfrm>
            <a:off x="2743200" y="3017520"/>
            <a:ext cx="201168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</p:sp>
      <p:sp>
        <p:nvSpPr>
          <p:cNvPr id="7" name="cover stat text divisions"/>
          <p:cNvSpPr txBox="1"/>
          <p:nvPr/>
        </p:nvSpPr>
        <p:spPr>
          <a:xfrm>
            <a:off x="2743200" y="3017520"/>
            <a:ext cx="2011680" cy="11887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divisions</a:t>
            </a:r>
            <a:endParaRPr lang="en-US" sz="4000" dirty="0"/>
          </a:p>
        </p:txBody>
      </p:sp>
      <p:sp>
        <p:nvSpPr>
          <p:cNvPr id="8" name="cover stat census years"/>
          <p:cNvSpPr/>
          <p:nvPr/>
        </p:nvSpPr>
        <p:spPr>
          <a:xfrm>
            <a:off x="5029200" y="3017520"/>
            <a:ext cx="2011680" cy="1188720"/>
          </a:xfrm>
          <a:prstGeom prst="roundRect">
            <a:avLst>
              <a:gd name="adj" fmla="val 7692"/>
            </a:avLst>
          </a:prstGeom>
          <a:solidFill>
            <a:schemeClr val="accent1"/>
          </a:solidFill>
          <a:ln/>
        </p:spPr>
      </p:sp>
      <p:sp>
        <p:nvSpPr>
          <p:cNvPr id="9" name="cover stat text census years"/>
          <p:cNvSpPr txBox="1"/>
          <p:nvPr/>
        </p:nvSpPr>
        <p:spPr>
          <a:xfrm>
            <a:off x="5029200" y="3017520"/>
            <a:ext cx="2011680" cy="118872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census years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data at a glance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64 districts, four censuses and no missing values, with three things to know</a:t>
            </a:r>
            <a:endParaRPr lang="en-US" sz="1600" dirty="0"/>
          </a:p>
        </p:txBody>
      </p:sp>
      <p:sp>
        <p:nvSpPr>
          <p:cNvPr id="4" name="glance districts (one row each) card"/>
          <p:cNvSpPr/>
          <p:nvPr/>
        </p:nvSpPr>
        <p:spPr>
          <a:xfrm>
            <a:off x="457200" y="1508760"/>
            <a:ext cx="187452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5" name="glance districts (one row each) text"/>
          <p:cNvSpPr txBox="1"/>
          <p:nvPr/>
        </p:nvSpPr>
        <p:spPr>
          <a:xfrm>
            <a:off x="457200" y="1508760"/>
            <a:ext cx="1874520" cy="11430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districts (one row each)</a:t>
            </a:r>
            <a:endParaRPr lang="en-US" sz="3600" dirty="0"/>
          </a:p>
        </p:txBody>
      </p:sp>
      <p:sp>
        <p:nvSpPr>
          <p:cNvPr id="6" name="glance columns of data card"/>
          <p:cNvSpPr/>
          <p:nvPr/>
        </p:nvSpPr>
        <p:spPr>
          <a:xfrm>
            <a:off x="2578608" y="1508760"/>
            <a:ext cx="187452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7" name="glance columns of data text"/>
          <p:cNvSpPr txBox="1"/>
          <p:nvPr/>
        </p:nvSpPr>
        <p:spPr>
          <a:xfrm>
            <a:off x="2578608" y="1508760"/>
            <a:ext cx="1874520" cy="11430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columns of data</a:t>
            </a:r>
            <a:endParaRPr lang="en-US" sz="3600" dirty="0"/>
          </a:p>
        </p:txBody>
      </p:sp>
      <p:sp>
        <p:nvSpPr>
          <p:cNvPr id="8" name="glance census years card"/>
          <p:cNvSpPr/>
          <p:nvPr/>
        </p:nvSpPr>
        <p:spPr>
          <a:xfrm>
            <a:off x="4700016" y="1508760"/>
            <a:ext cx="187452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9" name="glance census years text"/>
          <p:cNvSpPr txBox="1"/>
          <p:nvPr/>
        </p:nvSpPr>
        <p:spPr>
          <a:xfrm>
            <a:off x="4700016" y="1508760"/>
            <a:ext cx="1874520" cy="11430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census years</a:t>
            </a:r>
            <a:endParaRPr lang="en-US" sz="3600" dirty="0"/>
          </a:p>
        </p:txBody>
      </p:sp>
      <p:sp>
        <p:nvSpPr>
          <p:cNvPr id="10" name="glance missing values card"/>
          <p:cNvSpPr/>
          <p:nvPr/>
        </p:nvSpPr>
        <p:spPr>
          <a:xfrm>
            <a:off x="6821424" y="1508760"/>
            <a:ext cx="1874520" cy="11430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/>
        </p:spPr>
      </p:sp>
      <p:sp>
        <p:nvSpPr>
          <p:cNvPr id="11" name="glance missing values text"/>
          <p:cNvSpPr txBox="1"/>
          <p:nvPr/>
        </p:nvSpPr>
        <p:spPr>
          <a:xfrm>
            <a:off x="6821424" y="1508760"/>
            <a:ext cx="1874520" cy="11430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missing values</a:t>
            </a:r>
            <a:endParaRPr lang="en-US" sz="3600" dirty="0"/>
          </a:p>
        </p:txBody>
      </p:sp>
      <p:sp>
        <p:nvSpPr>
          <p:cNvPr id="12" name="caveat 1"/>
          <p:cNvSpPr txBox="1"/>
          <p:nvPr/>
        </p:nvSpPr>
        <p:spPr>
          <a:xfrm>
            <a:off x="457200" y="30175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Districts, not cities: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each row is a whole district, rural areas included.</a:t>
            </a:r>
            <a:endParaRPr lang="en-US" sz="1500" dirty="0"/>
          </a:p>
        </p:txBody>
      </p:sp>
      <p:sp>
        <p:nvSpPr>
          <p:cNvPr id="13" name="caveat 2"/>
          <p:cNvSpPr txBox="1"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1991 is rounded: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every 1991 figure is rounded to the nearest 1,000.</a:t>
            </a:r>
            <a:endParaRPr lang="en-US" sz="1500" dirty="0"/>
          </a:p>
        </p:txBody>
      </p:sp>
      <p:sp>
        <p:nvSpPr>
          <p:cNvPr id="14" name="caveat 3"/>
          <p:cNvSpPr txBox="1"/>
          <p:nvPr/>
        </p:nvSpPr>
        <p:spPr>
          <a:xfrm>
            <a:off x="457200" y="40233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Today's borders: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all four years use the current district and division map.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 bigger nation, slower growth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About 19-20 million people are added each period, but the yearly rate keeps falling</a:t>
            </a:r>
            <a:endParaRPr lang="en-US" sz="1600" dirty="0"/>
          </a:p>
        </p:txBody>
      </p:sp>
      <p:graphicFrame>
        <p:nvGraphicFramePr>
          <p:cNvPr id="4" name="National population chart" descr=""/>
          <p:cNvGraphicFramePr/>
          <p:nvPr/>
        </p:nvGraphicFramePr>
        <p:xfrm>
          <a:off x="457200" y="1463040"/>
          <a:ext cx="49377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growth 1991-2001 card"/>
          <p:cNvSpPr/>
          <p:nvPr/>
        </p:nvSpPr>
        <p:spPr>
          <a:xfrm>
            <a:off x="5669280" y="1463040"/>
            <a:ext cx="3017520" cy="978408"/>
          </a:xfrm>
          <a:prstGeom prst="roundRect">
            <a:avLst>
              <a:gd name="adj" fmla="val 9346"/>
            </a:avLst>
          </a:prstGeom>
          <a:solidFill>
            <a:schemeClr val="bg2"/>
          </a:solidFill>
          <a:ln/>
        </p:spPr>
      </p:sp>
      <p:sp>
        <p:nvSpPr>
          <p:cNvPr id="6" name="growth 1991-2001 text"/>
          <p:cNvSpPr txBox="1"/>
          <p:nvPr/>
        </p:nvSpPr>
        <p:spPr>
          <a:xfrm>
            <a:off x="5669280" y="1463040"/>
            <a:ext cx="3017520" cy="97840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+19.1M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1991 to 2001  |  1.59% a year</a:t>
            </a:r>
            <a:endParaRPr lang="en-US" sz="2600" dirty="0"/>
          </a:p>
        </p:txBody>
      </p:sp>
      <p:sp>
        <p:nvSpPr>
          <p:cNvPr id="7" name="growth 2001-2011 card"/>
          <p:cNvSpPr/>
          <p:nvPr/>
        </p:nvSpPr>
        <p:spPr>
          <a:xfrm>
            <a:off x="5669280" y="2532888"/>
            <a:ext cx="3017520" cy="978408"/>
          </a:xfrm>
          <a:prstGeom prst="roundRect">
            <a:avLst>
              <a:gd name="adj" fmla="val 9346"/>
            </a:avLst>
          </a:prstGeom>
          <a:solidFill>
            <a:schemeClr val="bg2"/>
          </a:solidFill>
          <a:ln/>
        </p:spPr>
      </p:sp>
      <p:sp>
        <p:nvSpPr>
          <p:cNvPr id="8" name="growth 2001-2011 text"/>
          <p:cNvSpPr txBox="1"/>
          <p:nvPr/>
        </p:nvSpPr>
        <p:spPr>
          <a:xfrm>
            <a:off x="5669280" y="2532888"/>
            <a:ext cx="3017520" cy="97840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+19.2M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2001 to 2011  |  1.39% a year</a:t>
            </a:r>
            <a:endParaRPr lang="en-US" sz="2600" dirty="0"/>
          </a:p>
        </p:txBody>
      </p:sp>
      <p:sp>
        <p:nvSpPr>
          <p:cNvPr id="9" name="growth 2011-2022 card"/>
          <p:cNvSpPr/>
          <p:nvPr/>
        </p:nvSpPr>
        <p:spPr>
          <a:xfrm>
            <a:off x="5669280" y="3602736"/>
            <a:ext cx="3017520" cy="978408"/>
          </a:xfrm>
          <a:prstGeom prst="roundRect">
            <a:avLst>
              <a:gd name="adj" fmla="val 9346"/>
            </a:avLst>
          </a:prstGeom>
          <a:solidFill>
            <a:schemeClr val="bg2"/>
          </a:solidFill>
          <a:ln/>
        </p:spPr>
      </p:sp>
      <p:sp>
        <p:nvSpPr>
          <p:cNvPr id="10" name="growth 2011-2022 text"/>
          <p:cNvSpPr txBox="1"/>
          <p:nvPr/>
        </p:nvSpPr>
        <p:spPr>
          <a:xfrm>
            <a:off x="5669280" y="3602736"/>
            <a:ext cx="3017520" cy="97840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+20.1M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2011 to 2022  |  1.15% a year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Dhaka dominates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Ten districts hold 37% of all people, and Dhaka leads by a wide margin</a:t>
            </a:r>
            <a:endParaRPr lang="en-US" sz="1600" dirty="0"/>
          </a:p>
        </p:txBody>
      </p:sp>
      <p:graphicFrame>
        <p:nvGraphicFramePr>
          <p:cNvPr id="4" name="Top 10 districts chart" descr=""/>
          <p:cNvGraphicFramePr/>
          <p:nvPr/>
        </p:nvGraphicFramePr>
        <p:xfrm>
          <a:off x="457200" y="1463040"/>
          <a:ext cx="49377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dhaka share card"/>
          <p:cNvSpPr/>
          <p:nvPr/>
        </p:nvSpPr>
        <p:spPr>
          <a:xfrm>
            <a:off x="5669280" y="1463040"/>
            <a:ext cx="3017520" cy="978408"/>
          </a:xfrm>
          <a:prstGeom prst="roundRect">
            <a:avLst>
              <a:gd name="adj" fmla="val 9346"/>
            </a:avLst>
          </a:prstGeom>
          <a:solidFill>
            <a:schemeClr val="bg2"/>
          </a:solidFill>
          <a:ln/>
        </p:spPr>
      </p:sp>
      <p:sp>
        <p:nvSpPr>
          <p:cNvPr id="6" name="dhaka share text"/>
          <p:cNvSpPr txBox="1"/>
          <p:nvPr/>
        </p:nvSpPr>
        <p:spPr>
          <a:xfrm>
            <a:off x="5669280" y="1463040"/>
            <a:ext cx="3017520" cy="97840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9.0%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of Bangladesh lives in Dhaka district alone</a:t>
            </a:r>
            <a:endParaRPr lang="en-US" sz="2600" dirty="0"/>
          </a:p>
        </p:txBody>
      </p:sp>
      <p:sp>
        <p:nvSpPr>
          <p:cNvPr id="7" name="dhaka density card"/>
          <p:cNvSpPr/>
          <p:nvPr/>
        </p:nvSpPr>
        <p:spPr>
          <a:xfrm>
            <a:off x="5669280" y="2532888"/>
            <a:ext cx="3017520" cy="978408"/>
          </a:xfrm>
          <a:prstGeom prst="roundRect">
            <a:avLst>
              <a:gd name="adj" fmla="val 9346"/>
            </a:avLst>
          </a:prstGeom>
          <a:solidFill>
            <a:schemeClr val="bg2"/>
          </a:solidFill>
          <a:ln/>
        </p:spPr>
      </p:sp>
      <p:sp>
        <p:nvSpPr>
          <p:cNvPr id="8" name="dhaka density text"/>
          <p:cNvSpPr txBox="1"/>
          <p:nvPr/>
        </p:nvSpPr>
        <p:spPr>
          <a:xfrm>
            <a:off x="5669280" y="2532888"/>
            <a:ext cx="3017520" cy="97840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95x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Dhaka's density, 10,390 per km2, vs Rangamati</a:t>
            </a:r>
            <a:endParaRPr lang="en-US" sz="2600" dirty="0"/>
          </a:p>
        </p:txBody>
      </p:sp>
      <p:sp>
        <p:nvSpPr>
          <p:cNvPr id="9" name="dhaka belt card"/>
          <p:cNvSpPr/>
          <p:nvPr/>
        </p:nvSpPr>
        <p:spPr>
          <a:xfrm>
            <a:off x="5669280" y="3602736"/>
            <a:ext cx="3017520" cy="978408"/>
          </a:xfrm>
          <a:prstGeom prst="roundRect">
            <a:avLst>
              <a:gd name="adj" fmla="val 9346"/>
            </a:avLst>
          </a:prstGeom>
          <a:solidFill>
            <a:schemeClr val="bg2"/>
          </a:solidFill>
          <a:ln/>
        </p:spPr>
      </p:sp>
      <p:sp>
        <p:nvSpPr>
          <p:cNvPr id="10" name="dhaka belt text"/>
          <p:cNvSpPr txBox="1"/>
          <p:nvPr/>
        </p:nvSpPr>
        <p:spPr>
          <a:xfrm>
            <a:off x="5669280" y="3602736"/>
            <a:ext cx="3017520" cy="978408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14.5%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live in Dhaka + Gazipur + Narayanganj, on 2.7% of the land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Divisions: winners and losers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Only Dhaka, Chattogram and Sylhet gained share of the national population</a:t>
            </a:r>
            <a:endParaRPr lang="en-US" sz="1600" dirty="0"/>
          </a:p>
        </p:txBody>
      </p:sp>
      <p:graphicFrame>
        <p:nvGraphicFramePr>
          <p:cNvPr id="4" name="Division share chart" descr=""/>
          <p:cNvGraphicFramePr/>
          <p:nvPr/>
        </p:nvGraphicFramePr>
        <p:xfrm>
          <a:off x="457200" y="1463040"/>
          <a:ext cx="822960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Fast risers and one decliner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Dhaka belt and the south-east surged, while the south barely moved</a:t>
            </a:r>
            <a:endParaRPr lang="en-US" sz="1600" dirty="0"/>
          </a:p>
        </p:txBody>
      </p:sp>
      <p:graphicFrame>
        <p:nvGraphicFramePr>
          <p:cNvPr id="4" name="Fastest growth chart" descr=""/>
          <p:cNvGraphicFramePr/>
          <p:nvPr/>
        </p:nvGraphicFramePr>
        <p:xfrm>
          <a:off x="457200" y="1463040"/>
          <a:ext cx="493776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decliners card"/>
          <p:cNvSpPr/>
          <p:nvPr/>
        </p:nvSpPr>
        <p:spPr>
          <a:xfrm>
            <a:off x="5669280" y="1463040"/>
            <a:ext cx="3017520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6" name="decliners text"/>
          <p:cNvSpPr txBox="1"/>
          <p:nvPr/>
        </p:nvSpPr>
        <p:spPr>
          <a:xfrm>
            <a:off x="5669280" y="1463040"/>
            <a:ext cx="3017520" cy="137160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of 64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districts lost people from 2001 to 2011, mostly in Barisal and Khulna divisions</a:t>
            </a:r>
            <a:endParaRPr lang="en-US" sz="2800" dirty="0"/>
          </a:p>
        </p:txBody>
      </p:sp>
      <p:sp>
        <p:nvSpPr>
          <p:cNvPr id="7" name="jhalokati card"/>
          <p:cNvSpPr/>
          <p:nvPr/>
        </p:nvSpPr>
        <p:spPr>
          <a:xfrm>
            <a:off x="5669280" y="3017520"/>
            <a:ext cx="301752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/>
        </p:spPr>
      </p:sp>
      <p:sp>
        <p:nvSpPr>
          <p:cNvPr id="8" name="jhalokati text"/>
          <p:cNvSpPr txBox="1"/>
          <p:nvPr/>
        </p:nvSpPr>
        <p:spPr>
          <a:xfrm>
            <a:off x="5669280" y="3017520"/>
            <a:ext cx="3017520" cy="1554480"/>
          </a:xfrm>
          <a:prstGeom prst="rect">
            <a:avLst/>
          </a:prstGeom>
          <a:noFill/>
          <a:ln/>
        </p:spPr>
        <p:txBody>
          <a:bodyPr wrap="square" lIns="1524" tIns="1524" rIns="1524" bIns="1524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-2.4%</a:t>
            </a:r>
            <a:endParaRPr lang="en-US" sz="28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Jhalokati is the only district smaller in 2022 than in 1991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3" name="takeaway card 1"/>
          <p:cNvSpPr/>
          <p:nvPr/>
        </p:nvSpPr>
        <p:spPr>
          <a:xfrm>
            <a:off x="457200" y="1188720"/>
            <a:ext cx="4023360" cy="128016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/>
        </p:spPr>
      </p:sp>
      <p:sp>
        <p:nvSpPr>
          <p:cNvPr id="4" name="takeaway text 1"/>
          <p:cNvSpPr txBox="1"/>
          <p:nvPr/>
        </p:nvSpPr>
        <p:spPr>
          <a:xfrm>
            <a:off x="457200" y="1188720"/>
            <a:ext cx="4023360" cy="12801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169.8M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people in 2022, up 52% since 1991</a:t>
            </a:r>
            <a:endParaRPr lang="en-US" sz="2800" dirty="0"/>
          </a:p>
        </p:txBody>
      </p:sp>
      <p:sp>
        <p:nvSpPr>
          <p:cNvPr id="5" name="takeaway card 2"/>
          <p:cNvSpPr/>
          <p:nvPr/>
        </p:nvSpPr>
        <p:spPr>
          <a:xfrm>
            <a:off x="4663440" y="1188720"/>
            <a:ext cx="4023360" cy="128016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/>
        </p:spPr>
      </p:sp>
      <p:sp>
        <p:nvSpPr>
          <p:cNvPr id="6" name="takeaway text 2"/>
          <p:cNvSpPr txBox="1"/>
          <p:nvPr/>
        </p:nvSpPr>
        <p:spPr>
          <a:xfrm>
            <a:off x="4663440" y="1188720"/>
            <a:ext cx="4023360" cy="12801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1.59% to 1.15%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yearly growth rate, 1991-2001 vs 2011-2022</a:t>
            </a:r>
            <a:endParaRPr lang="en-US" sz="2800" dirty="0"/>
          </a:p>
        </p:txBody>
      </p:sp>
      <p:sp>
        <p:nvSpPr>
          <p:cNvPr id="7" name="takeaway card 3"/>
          <p:cNvSpPr/>
          <p:nvPr/>
        </p:nvSpPr>
        <p:spPr>
          <a:xfrm>
            <a:off x="457200" y="2651760"/>
            <a:ext cx="4023360" cy="128016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/>
        </p:spPr>
      </p:sp>
      <p:sp>
        <p:nvSpPr>
          <p:cNvPr id="8" name="takeaway text 3"/>
          <p:cNvSpPr txBox="1"/>
          <p:nvPr/>
        </p:nvSpPr>
        <p:spPr>
          <a:xfrm>
            <a:off x="457200" y="2651760"/>
            <a:ext cx="4023360" cy="12801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8.7% to 14.5%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share living in the Dhaka belt</a:t>
            </a:r>
            <a:endParaRPr lang="en-US" sz="2800" dirty="0"/>
          </a:p>
        </p:txBody>
      </p:sp>
      <p:sp>
        <p:nvSpPr>
          <p:cNvPr id="9" name="takeaway card 4"/>
          <p:cNvSpPr/>
          <p:nvPr/>
        </p:nvSpPr>
        <p:spPr>
          <a:xfrm>
            <a:off x="4663440" y="2651760"/>
            <a:ext cx="4023360" cy="1280160"/>
          </a:xfrm>
          <a:prstGeom prst="roundRect">
            <a:avLst>
              <a:gd name="adj" fmla="val 7143"/>
            </a:avLst>
          </a:prstGeom>
          <a:solidFill>
            <a:schemeClr val="accent1"/>
          </a:solidFill>
          <a:ln/>
        </p:spPr>
      </p:sp>
      <p:sp>
        <p:nvSpPr>
          <p:cNvPr id="10" name="takeaway text 4"/>
          <p:cNvSpPr txBox="1"/>
          <p:nvPr/>
        </p:nvSpPr>
        <p:spPr>
          <a:xfrm>
            <a:off x="4663440" y="2651760"/>
            <a:ext cx="4023360" cy="1280160"/>
          </a:xfrm>
          <a:prstGeom prst="rect">
            <a:avLst/>
          </a:prstGeom>
          <a:noFill/>
          <a:ln/>
        </p:spPr>
        <p:txBody>
          <a:bodyPr wrap="square" lIns="1905" tIns="1905" rIns="1905" bIns="1905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Barisal</a:t>
            </a:r>
            <a:endParaRPr lang="en-US" sz="28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is the slowest-growing division, with the smallest share</a:t>
            </a:r>
            <a:endParaRPr lang="en-US" sz="2800" dirty="0"/>
          </a:p>
        </p:txBody>
      </p:sp>
      <p:sp>
        <p:nvSpPr>
          <p:cNvPr id="11" name="closing note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The data show what changed, not why. Check local causes before drawing conclusions.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ngladesh Districts">
  <a:themeElements>
    <a:clrScheme name="Bangladesh Districts">
      <a:dk1>
        <a:srgbClr val="1F2937"/>
      </a:dk1>
      <a:lt1>
        <a:srgbClr val="FFFFFF"/>
      </a:lt1>
      <a:dk2>
        <a:srgbClr val="004D39"/>
      </a:dk2>
      <a:lt2>
        <a:srgbClr val="E8F3EE"/>
      </a:lt2>
      <a:accent1>
        <a:srgbClr val="006A4E"/>
      </a:accent1>
      <a:accent2>
        <a:srgbClr val="C8102E"/>
      </a:accent2>
      <a:accent3>
        <a:srgbClr val="6B7280"/>
      </a:accent3>
      <a:accent4>
        <a:srgbClr val="E69F00"/>
      </a:accent4>
      <a:accent5>
        <a:srgbClr val="0072B2"/>
      </a:accent5>
      <a:accent6>
        <a:srgbClr val="56B4E9"/>
      </a:accent6>
      <a:hlink>
        <a:srgbClr val="0072B2"/>
      </a:hlink>
      <a:folHlink>
        <a:srgbClr val="6B7280"/>
      </a:folHlink>
    </a:clrScheme>
    <a:fontScheme name="Bangladesh Distric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Bangladesh's 64 Districts: Population Change 1991-2022</dc:title>
  <dc:subject>PptxGenJS Presentation</dc:subject>
  <dc:creator>PptxGenJS</dc:creator>
  <cp:lastModifiedBy>PptxGenJS</cp:lastModifiedBy>
  <cp:revision>1</cp:revision>
  <dcterms:created xsi:type="dcterms:W3CDTF">2026-10-21T11:49:55Z</dcterms:created>
  <dcterms:modified xsi:type="dcterms:W3CDTF">2026-10-21T11:49:55Z</dcterms:modified>
</cp:coreProperties>
</file>